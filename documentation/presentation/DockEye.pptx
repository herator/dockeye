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 presenterer problemet, den implementerte programflyten og hva som fortsatt må evalueres. Skill mellom programkode og dokumentert modellnøyaktighet.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 er forskjell på at noe beveger seg og hva personen faktisk gjør. Målet er å lage en etterprøvbar oversikt, ikke å identifisere personer eller avgjøre tillatelse.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delene i programflyten er koblet sammen. Den generelle modellen kan finne personer og båter. Dette betyr ikke at vi har en validert egen modell som gjenkjenner fisking.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Videoen behandles ett bilde om gangen. Sonene og bakgrunnsmodellen foreslår områder. YOLO klassifiserer, trackeren gir ID-er, og hendelseslogikken vurderer observasjonene over videotid. Aktive spor går tilbake til modellen også når de står stille. Først ved bekreftet hendelse lagres CSV og bilde. Stangmetoden lager en separat mulig fiskehendelse.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lang linje nær en person kan være en stang, men vinkel alene beviser ikke fisking. Kandidatmetoden er kjørbar med en generell personmodell, men må evalueres. En egen fiskemodell trenger flere merkede opptak.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 avgrenser prosjektet til ett fast kamera og behandling i etterkant. Hendelseslogging og gjennomgang er med. Vær og lys er forhold vi skal teste. Kalibrering gjelder målepunkter på bryggeplanet, ikke menneskehøyde. Direkte varsling, identifisering og flere kamera er utenfor.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Brukstilfellene beskriver hva operatøren gjør og hvilket resultat som kommer ut. Først soner, deretter analyse og justering. Så gjennomgang av hendelser og båttelling. Merking og trening er et separat utviklingsarbeidsløp.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videofil med fisking i navnet er ikke et ferdig datasett. Vi trenger flere uavhengige opptak og kontrollerte merkelapper. Verktøyene avviser samme opptak eller kildegruppe i flere datasplitt. Den ene fiskefilen kan ikke fordeles tilfeldig bilde for bilde til trening og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Tester med en kontrollert detektor beviser hendelsesflyten, ikke modellens fiskegjenkjenning. Vi har også kjørt faktisk modellinferens og en liten treningskontroll. Den syntetiske treningen hadde null treffsikkerhet og skal ikke vises som en ferdig fiskemodell.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Testen av det ekte opptaket med en gående person ga tre falske stangkandidater. Kontroll av bildene viste bakgrunnslinjer, ikke fisking. Vi viser dette som en kjent begrensning. Vi bruker valideringsdata til justering og holder testopptakene til endelig måling.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model-research.md for fullstendige lenker og hva vi faktisk fikk kontrollert. Den nye presentasjonen erstatter den gamle kombinasjonen av en trent modell, størrelsesklassifisering og en påstått Kalman-tracker.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DockEye</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Oscar Skibrek · Herman Ardem · Tarik Sørensen · Ingeborg Briskodden</a:t>
            </a:r>
          </a:p>
          <a:p>
            <a:pPr>
              <a:spcAft>
                <a:spcPts val="2200"/>
              </a:spcAft>
              <a:defRPr sz="2200">
                <a:solidFill>
                  <a:srgbClr val="F0F4F8"/>
                </a:solidFill>
              </a:defRPr>
            </a:pPr>
            <a:r>
              <a:t>• One fixed camera. Recorded footage. Human review.</a:t>
            </a:r>
          </a:p>
          <a:p>
            <a:pPr>
              <a:spcAft>
                <a:spcPts val="2200"/>
              </a:spcAft>
              <a:defRPr sz="2200">
                <a:solidFill>
                  <a:srgbClr val="F0F4F8"/>
                </a:solidFill>
              </a:defRPr>
            </a:pPr>
            <a:r>
              <a:t>• Motion → model → tracking → events → review</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Problem and goal</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Understand when people use the dock and when boats pass.</a:t>
            </a:r>
          </a:p>
          <a:p>
            <a:pPr>
              <a:spcAft>
                <a:spcPts val="2200"/>
              </a:spcAft>
              <a:defRPr sz="2200">
                <a:solidFill>
                  <a:srgbClr val="F0F4F8"/>
                </a:solidFill>
              </a:defRPr>
            </a:pPr>
            <a:r>
              <a:t>• Distinguish walking and standing from fishing activity.</a:t>
            </a:r>
          </a:p>
          <a:p>
            <a:pPr>
              <a:spcAft>
                <a:spcPts val="2200"/>
              </a:spcAft>
              <a:defRPr sz="2200">
                <a:solidFill>
                  <a:srgbClr val="F0F4F8"/>
                </a:solidFill>
              </a:defRPr>
            </a:pPr>
            <a:r>
              <a:t>• Produce reviewable events, timestamps and supporting snapshots.</a:t>
            </a:r>
          </a:p>
          <a:p>
            <a:pPr>
              <a:spcAft>
                <a:spcPts val="2200"/>
              </a:spcAft>
              <a:defRPr sz="2200">
                <a:solidFill>
                  <a:srgbClr val="F0F4F8"/>
                </a:solidFill>
              </a:defRPr>
            </a:pPr>
            <a:r>
              <a:t>• Detect activity; do not identify people or decide whether access is authorised.</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Current release: what exists</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Validated zones, per-zone MOG2 and explicit shadow removal.</a:t>
            </a:r>
          </a:p>
          <a:p>
            <a:pPr>
              <a:spcAft>
                <a:spcPts val="2200"/>
              </a:spcAft>
              <a:defRPr sz="2200">
                <a:solidFill>
                  <a:srgbClr val="F0F4F8"/>
                </a:solidFill>
              </a:defRPr>
            </a:pPr>
            <a:r>
              <a:t>• Local YOLO adapter, motion gating and active-track reclassification.</a:t>
            </a:r>
          </a:p>
          <a:p>
            <a:pPr>
              <a:spcAft>
                <a:spcPts val="2200"/>
              </a:spcAft>
              <a:defRPr sz="2200">
                <a:solidFill>
                  <a:srgbClr val="F0F4F8"/>
                </a:solidFill>
              </a:defRPr>
            </a:pPr>
            <a:r>
              <a:t>• Track IDs, temporal event logic and directional boat counting.</a:t>
            </a:r>
          </a:p>
          <a:p>
            <a:pPr>
              <a:spcAft>
                <a:spcPts val="2200"/>
              </a:spcAft>
              <a:defRPr sz="2200">
                <a:solidFill>
                  <a:srgbClr val="F0F4F8"/>
                </a:solidFill>
              </a:defRPr>
            </a:pPr>
            <a:r>
              <a:t>• CSV, event snapshots, annotated video and operator controls.</a:t>
            </a:r>
          </a:p>
          <a:p>
            <a:pPr>
              <a:spcAft>
                <a:spcPts val="2200"/>
              </a:spcAft>
              <a:defRPr sz="2200">
                <a:solidFill>
                  <a:srgbClr val="F0F4F8"/>
                </a:solidFill>
              </a:defRPr>
            </a:pPr>
            <a:r>
              <a:t>• Custom fishing model accuracy remains unverified; rod candidates are experimental.</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Architecture</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Recorded video → validated dock/water zones → motion regions.</a:t>
            </a:r>
          </a:p>
          <a:p>
            <a:pPr>
              <a:spcAft>
                <a:spcPts val="2200"/>
              </a:spcAft>
              <a:defRPr sz="2200">
                <a:solidFill>
                  <a:srgbClr val="F0F4F8"/>
                </a:solidFill>
              </a:defRPr>
            </a:pPr>
            <a:r>
              <a:t>• Motion + active track crops → YOLO → optional rod candidate geometry.</a:t>
            </a:r>
          </a:p>
          <a:p>
            <a:pPr>
              <a:spcAft>
                <a:spcPts val="2200"/>
              </a:spcAft>
              <a:defRPr sz="2200">
                <a:solidFill>
                  <a:srgbClr val="F0F4F8"/>
                </a:solidFill>
              </a:defRPr>
            </a:pPr>
            <a:r>
              <a:t>• One-to-one tracking → temporal evidence / boat-line crossing.</a:t>
            </a:r>
          </a:p>
          <a:p>
            <a:pPr>
              <a:spcAft>
                <a:spcPts val="2200"/>
              </a:spcAft>
              <a:defRPr sz="2200">
                <a:solidFill>
                  <a:srgbClr val="F0F4F8"/>
                </a:solidFill>
              </a:defRPr>
            </a:pPr>
            <a:r>
              <a:t>• Confirmed output → CSV + one snapshot → operator review.</a:t>
            </a:r>
          </a:p>
          <a:p>
            <a:pPr>
              <a:spcAft>
                <a:spcPts val="2200"/>
              </a:spcAft>
              <a:defRPr sz="2200">
                <a:solidFill>
                  <a:srgbClr val="F0F4F8"/>
                </a:solidFill>
              </a:defRPr>
            </a:pPr>
            <a:r>
              <a:t>• Active tracks are revisited even when motion stops.</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Fishing: two different methods</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Learned method: custom person_fishing class, trained on reviewed labels.</a:t>
            </a:r>
          </a:p>
          <a:p>
            <a:pPr>
              <a:spcAft>
                <a:spcPts val="2200"/>
              </a:spcAft>
              <a:defRPr sz="2200">
                <a:solidFill>
                  <a:srgbClr val="F0F4F8"/>
                </a:solidFill>
              </a:defRPr>
            </a:pPr>
            <a:r>
              <a:t>• Alternative: detect a person and a long angled line near the upper body/hands.</a:t>
            </a:r>
          </a:p>
          <a:p>
            <a:pPr>
              <a:spcAft>
                <a:spcPts val="2200"/>
              </a:spcAft>
              <a:defRPr sz="2200">
                <a:solidFill>
                  <a:srgbClr val="F0F4F8"/>
                </a:solidFill>
              </a:defRPr>
            </a:pPr>
            <a:r>
              <a:t>• Require repeated evidence over time; reset on negatives or long evidence gaps.</a:t>
            </a:r>
          </a:p>
          <a:p>
            <a:pPr>
              <a:spcAft>
                <a:spcPts val="2200"/>
              </a:spcAft>
              <a:defRPr sz="2200">
                <a:solidFill>
                  <a:srgbClr val="F0F4F8"/>
                </a:solidFill>
              </a:defRPr>
            </a:pPr>
            <a:r>
              <a:t>• Rod output is fishing_candidate, not verified fishing.</a:t>
            </a:r>
          </a:p>
          <a:p>
            <a:pPr>
              <a:spcAft>
                <a:spcPts val="2200"/>
              </a:spcAft>
              <a:defRPr sz="2200">
                <a:solidFill>
                  <a:srgbClr val="F0F4F8"/>
                </a:solidFill>
              </a:defRPr>
            </a:pPr>
            <a:r>
              <a:t>• Hooks, bags, branches and railings are important negative examples.</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Project scope</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In scope: one fixed camera and offline recordings of this dock.</a:t>
            </a:r>
          </a:p>
          <a:p>
            <a:pPr>
              <a:spcAft>
                <a:spcPts val="2200"/>
              </a:spcAft>
              <a:defRPr sz="2200">
                <a:solidFill>
                  <a:srgbClr val="F0F4F8"/>
                </a:solidFill>
              </a:defRPr>
            </a:pPr>
            <a:r>
              <a:t>• Detection, track continuity, line-crossing counts and event review.</a:t>
            </a:r>
          </a:p>
          <a:p>
            <a:pPr>
              <a:spcAft>
                <a:spcPts val="2200"/>
              </a:spcAft>
              <a:defRPr sz="2200">
                <a:solidFill>
                  <a:srgbClr val="F0F4F8"/>
                </a:solidFill>
              </a:defRPr>
            </a:pPr>
            <a:r>
              <a:t>• Optional measured dock-plane positions in metres; not body height.</a:t>
            </a:r>
          </a:p>
          <a:p>
            <a:pPr>
              <a:spcAft>
                <a:spcPts val="2200"/>
              </a:spcAft>
              <a:defRPr sz="2200">
                <a:solidFill>
                  <a:srgbClr val="F0F4F8"/>
                </a:solidFill>
              </a:defRPr>
            </a:pPr>
            <a:r>
              <a:t>• Daylight/dusk and wet/dry conditions are evaluation targets.</a:t>
            </a:r>
          </a:p>
          <a:p>
            <a:pPr>
              <a:spcAft>
                <a:spcPts val="2200"/>
              </a:spcAft>
              <a:defRPr sz="2200">
                <a:solidFill>
                  <a:srgbClr val="F0F4F8"/>
                </a:solidFill>
              </a:defRPr>
            </a:pPr>
            <a:r>
              <a:t>• Out of scope: live alerts, personal identity, night vision and multiple cameras.</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Operator use cases</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UC1: define zones once and reload them for the same view.</a:t>
            </a:r>
          </a:p>
          <a:p>
            <a:pPr>
              <a:spcAft>
                <a:spcPts val="2200"/>
              </a:spcAft>
              <a:defRPr sz="2200">
                <a:solidFill>
                  <a:srgbClr val="F0F4F8"/>
                </a:solidFill>
              </a:defRPr>
            </a:pPr>
            <a:r>
              <a:t>• UC2: analyse a clip, inspect boxes/IDs and tune motion parameters.</a:t>
            </a:r>
          </a:p>
          <a:p>
            <a:pPr>
              <a:spcAft>
                <a:spcPts val="2200"/>
              </a:spcAft>
              <a:defRPr sz="2200">
                <a:solidFill>
                  <a:srgbClr val="F0F4F8"/>
                </a:solidFill>
              </a:defRPr>
            </a:pPr>
            <a:r>
              <a:t>• UC3: review time-confirmed fishing or explicitly tentative rod candidates.</a:t>
            </a:r>
          </a:p>
          <a:p>
            <a:pPr>
              <a:spcAft>
                <a:spcPts val="2200"/>
              </a:spcAft>
              <a:defRPr sz="2200">
                <a:solidFill>
                  <a:srgbClr val="F0F4F8"/>
                </a:solidFill>
              </a:defRPr>
            </a:pPr>
            <a:r>
              <a:t>• UC4: count boats crossing a chosen line and compare with a manual count.</a:t>
            </a:r>
          </a:p>
          <a:p>
            <a:pPr>
              <a:spcAft>
                <a:spcPts val="2200"/>
              </a:spcAft>
              <a:defRPr sz="2200">
                <a:solidFill>
                  <a:srgbClr val="F0F4F8"/>
                </a:solidFill>
              </a:defRPr>
            </a:pPr>
            <a:r>
              <a:t>• UC5: inspect CSV and matching snapshots; export an annotated video.</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Data and training workflow</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Review labels: boat, person, person_fishing; include explicit negatives.</a:t>
            </a:r>
          </a:p>
          <a:p>
            <a:pPr>
              <a:spcAft>
                <a:spcPts val="2200"/>
              </a:spcAft>
              <a:defRPr sz="2200">
                <a:solidFill>
                  <a:srgbClr val="F0F4F8"/>
                </a:solidFill>
              </a:defRPr>
            </a:pPr>
            <a:r>
              <a:t>• Split by source recording/session, never neighbouring frames.</a:t>
            </a:r>
          </a:p>
          <a:p>
            <a:pPr>
              <a:spcAft>
                <a:spcPts val="2200"/>
              </a:spcAft>
              <a:defRPr sz="2200">
                <a:solidFill>
                  <a:srgbClr val="F0F4F8"/>
                </a:solidFill>
              </a:defRPr>
            </a:pPr>
            <a:r>
              <a:t>• Validate provenance and class coverage in train, validation and test.</a:t>
            </a:r>
          </a:p>
          <a:p>
            <a:pPr>
              <a:spcAft>
                <a:spcPts val="2200"/>
              </a:spcAft>
              <a:defRPr sz="2200">
                <a:solidFill>
                  <a:srgbClr val="F0F4F8"/>
                </a:solidFill>
              </a:defRPr>
            </a:pPr>
            <a:r>
              <a:t>• Fine-tune local pretrained YOLO weights; evaluate held-out clips.</a:t>
            </a:r>
          </a:p>
          <a:p>
            <a:pPr>
              <a:spcAft>
                <a:spcPts val="2200"/>
              </a:spcAft>
              <a:defRPr sz="2200">
                <a:solidFill>
                  <a:srgbClr val="F0F4F8"/>
                </a:solidFill>
              </a:defRPr>
            </a:pPr>
            <a:r>
              <a:t>• Public source footage is available; a reviewed three-class dataset is still needed.</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Verification and remaining evidence</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Automated tests cover video → tracking → event → CSV/snapshot/export.</a:t>
            </a:r>
          </a:p>
          <a:p>
            <a:pPr>
              <a:spcAft>
                <a:spcPts val="2200"/>
              </a:spcAft>
              <a:defRPr sz="2200">
                <a:solidFill>
                  <a:srgbClr val="F0F4F8"/>
                </a:solidFill>
              </a:defRPr>
            </a:pPr>
            <a:r>
              <a:t>• Actual pretrained inference found people in an official reference image.</a:t>
            </a:r>
          </a:p>
          <a:p>
            <a:pPr>
              <a:spcAft>
                <a:spcPts val="2200"/>
              </a:spcAft>
              <a:defRPr sz="2200">
                <a:solidFill>
                  <a:srgbClr val="F0F4F8"/>
                </a:solidFill>
              </a:defRPr>
            </a:pPr>
            <a:r>
              <a:t>• Synthetic one-epoch training produced weights and per-class reports.</a:t>
            </a:r>
          </a:p>
          <a:p>
            <a:pPr>
              <a:spcAft>
                <a:spcPts val="2200"/>
              </a:spcAft>
              <a:defRPr sz="2200">
                <a:solidFill>
                  <a:srgbClr val="F0F4F8"/>
                </a:solidFill>
              </a:defRPr>
            </a:pPr>
            <a:r>
              <a:t>• Synthetic training metrics were zero; this is not a useful fishing model.</a:t>
            </a:r>
          </a:p>
          <a:p>
            <a:pPr>
              <a:spcAft>
                <a:spcPts val="2200"/>
              </a:spcAft>
              <a:defRPr sz="2200">
                <a:solidFill>
                  <a:srgbClr val="F0F4F8"/>
                </a:solidFill>
              </a:defRPr>
            </a:pPr>
            <a:r>
              <a:t>• Dock accuracy, event recall and empty-dock false-positive rate remain to be measured.</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Risks and next work</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Walking-person recording: 3 false rod candidates from background lines.</a:t>
            </a:r>
          </a:p>
          <a:p>
            <a:pPr>
              <a:spcAft>
                <a:spcPts val="2200"/>
              </a:spcAft>
              <a:defRPr sz="2200">
                <a:solidFill>
                  <a:srgbClr val="F0F4F8"/>
                </a:solidFill>
              </a:defRPr>
            </a:pPr>
            <a:r>
              <a:t>• Track IDs can change; once-per-ID counting is not global re-identification.</a:t>
            </a:r>
          </a:p>
          <a:p>
            <a:pPr>
              <a:spcAft>
                <a:spcPts val="2200"/>
              </a:spcAft>
              <a:defRPr sz="2200">
                <a:solidFill>
                  <a:srgbClr val="F0F4F8"/>
                </a:solidFill>
              </a:defRPr>
            </a:pPr>
            <a:r>
              <a:t>• Validate rod candidates against hooks, bags, diagonal structures and no-rod clips.</a:t>
            </a:r>
          </a:p>
          <a:p>
            <a:pPr>
              <a:spcAft>
                <a:spcPts val="2200"/>
              </a:spcAft>
              <a:defRPr sz="2200">
                <a:solidFill>
                  <a:srgbClr val="F0F4F8"/>
                </a:solidFill>
              </a:defRPr>
            </a:pPr>
            <a:r>
              <a:t>• Collect independent labelled fishing recordings and tune on validation only.</a:t>
            </a:r>
          </a:p>
          <a:p>
            <a:pPr>
              <a:spcAft>
                <a:spcPts val="2200"/>
              </a:spcAft>
              <a:defRPr sz="2200">
                <a:solidFill>
                  <a:srgbClr val="F0F4F8"/>
                </a:solidFill>
              </a:defRPr>
            </a:pPr>
            <a:r>
              <a:t>• Measure per-class precision/recall, event matches and false events per hour.</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none">
            <a:spAutoFit/>
          </a:bodyPr>
          <a:lstStyle/>
          <a:p>
            <a:pPr>
              <a:defRPr sz="3200" b="1">
                <a:solidFill>
                  <a:srgbClr val="69D6C4"/>
                </a:solidFill>
              </a:defRPr>
            </a:pPr>
            <a:r>
              <a:t>Sources and demonstration</a:t>
            </a:r>
          </a:p>
        </p:txBody>
      </p:sp>
      <p:sp>
        <p:nvSpPr>
          <p:cNvPr id="3" name="TextBox 2"/>
          <p:cNvSpPr txBox="1"/>
          <p:nvPr/>
        </p:nvSpPr>
        <p:spPr>
          <a:xfrm>
            <a:off x="731520" y="1737360"/>
            <a:ext cx="10698480" cy="4206240"/>
          </a:xfrm>
          <a:prstGeom prst="rect">
            <a:avLst/>
          </a:prstGeom>
          <a:noFill/>
        </p:spPr>
        <p:txBody>
          <a:bodyPr wrap="square">
            <a:spAutoFit/>
          </a:bodyPr>
          <a:lstStyle/>
          <a:p>
            <a:pPr>
              <a:spcAft>
                <a:spcPts val="2200"/>
              </a:spcAft>
              <a:defRPr sz="2200">
                <a:solidFill>
                  <a:srgbClr val="F0F4F8"/>
                </a:solidFill>
              </a:defRPr>
            </a:pPr>
            <a:r>
              <a:t>• Implementation, tests and data schemas: Herator/DockEye, current branch.</a:t>
            </a:r>
          </a:p>
          <a:p>
            <a:pPr>
              <a:spcAft>
                <a:spcPts val="2200"/>
              </a:spcAft>
              <a:defRPr sz="2200">
                <a:solidFill>
                  <a:srgbClr val="F0F4F8"/>
                </a:solidFill>
              </a:defRPr>
            </a:pPr>
            <a:r>
              <a:t>• Ultralytics YOLO11n: official pretrained person/boat starting model.</a:t>
            </a:r>
          </a:p>
          <a:p>
            <a:pPr>
              <a:spcAft>
                <a:spcPts val="2200"/>
              </a:spcAft>
              <a:defRPr sz="2200">
                <a:solidFill>
                  <a:srgbClr val="F0F4F8"/>
                </a:solidFill>
              </a:defRPr>
            </a:pPr>
            <a:r>
              <a:t>• Project recordings: shared Drive folder linked from the repository.</a:t>
            </a:r>
          </a:p>
          <a:p>
            <a:pPr>
              <a:spcAft>
                <a:spcPts val="2200"/>
              </a:spcAft>
              <a:defRPr sz="2200">
                <a:solidFill>
                  <a:srgbClr val="F0F4F8"/>
                </a:solidFill>
              </a:defRPr>
            </a:pPr>
            <a:r>
              <a:t>• Roboflow fishing recognition: candidate source; access/licence/weights unverified.</a:t>
            </a:r>
          </a:p>
          <a:p>
            <a:pPr>
              <a:spcAft>
                <a:spcPts val="2200"/>
              </a:spcAft>
              <a:defRPr sz="2200">
                <a:solidFill>
                  <a:srgbClr val="F0F4F8"/>
                </a:solidFill>
              </a:defRPr>
            </a:pPr>
            <a:r>
              <a:t>• Demo: explain the model/method, show outputs, and distinguish candidates from confirmed fishing.</a:t>
            </a:r>
          </a:p>
        </p:txBody>
      </p:sp>
      <p:sp>
        <p:nvSpPr>
          <p:cNvPr id="4" name="TextBox 3"/>
          <p:cNvSpPr txBox="1"/>
          <p:nvPr/>
        </p:nvSpPr>
        <p:spPr>
          <a:xfrm>
            <a:off x="731520" y="6400800"/>
            <a:ext cx="10698480" cy="274320"/>
          </a:xfrm>
          <a:prstGeom prst="rect">
            <a:avLst/>
          </a:prstGeom>
          <a:noFill/>
        </p:spPr>
        <p:txBody>
          <a:bodyPr wrap="none">
            <a:spAutoFit/>
          </a:bodyPr>
          <a:lstStyle/>
          <a:p>
            <a:pPr>
              <a:defRPr sz="1100">
                <a:solidFill>
                  <a:srgbClr val="9BAEBB"/>
                </a:solidFill>
              </a:defRPr>
            </a:pPr>
            <a:r>
              <a:t>DockEye  |  Implementation ≠ measured accuracy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